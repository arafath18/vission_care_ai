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0116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3F4F6"/>
                </a:solidFill>
                <a:latin typeface="Outfit"/>
              </a:defRPr>
            </a:pPr>
            <a:r>
              <a:t>AI - BASED RETINAL MULTI DISEASE</a:t>
            </a:r>
            <a:br/>
            <a:r>
              <a:t>PREDICTION USING LLM AND CNN</a:t>
            </a:r>
          </a:p>
          <a:p>
            <a:pPr>
              <a:spcBef>
                <a:spcPts val="1400"/>
              </a:spcBef>
              <a:defRPr sz="1600">
                <a:solidFill>
                  <a:srgbClr val="9CA3AF"/>
                </a:solidFill>
                <a:latin typeface="Outfit"/>
              </a:defRPr>
            </a:pPr>
            <a:r>
              <a:t>VisionCare: Symmetrical Diagnostic Platforms &amp; Clinical Decision Support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3F4F6"/>
                </a:solidFill>
                <a:latin typeface="Outfit"/>
              </a:defRPr>
            </a:pPr>
            <a:r>
              <a:t>Submitted by: MOHAMED ARAFATH A (714023104069)</a:t>
            </a:r>
          </a:p>
          <a:p>
            <a:pPr>
              <a:spcBef>
                <a:spcPts val="400"/>
              </a:spcBef>
              <a:defRPr sz="1300">
                <a:solidFill>
                  <a:srgbClr val="9CA3AF"/>
                </a:solidFill>
                <a:latin typeface="Outfit"/>
              </a:defRPr>
            </a:pPr>
            <a:r>
              <a:t>Under the guidance of: Mrs. DEEPTHI NAIR P (Assistant Professor / CSE)</a:t>
            </a:r>
          </a:p>
          <a:p>
            <a:pPr>
              <a:spcBef>
                <a:spcPts val="800"/>
              </a:spcBef>
              <a:defRPr sz="1200" b="1">
                <a:solidFill>
                  <a:srgbClr val="6366F1"/>
                </a:solidFill>
                <a:latin typeface="Outfit"/>
              </a:defRPr>
            </a:pPr>
            <a:r>
              <a:t>SRI SHAKTHI INSTITUTE OF ENGINEERING AND TECHNOLOGY, COIMBATORE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VISIONCARE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Introduction &amp; Clinical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6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Retinal Pathologies &amp; Blindness:</a:t>
            </a:r>
            <a:r>
              <a:rPr>
                <a:solidFill>
                  <a:srgbClr val="F3F4F6"/>
                </a:solidFill>
              </a:rPr>
              <a:t> Diseases like Diabetic Macular Edema (DME), Choroidal Neovascularization (CNV), and Drusen represent primary causes of preventable blindness worldwide.</a:t>
            </a:r>
          </a:p>
          <a:p>
            <a:pPr>
              <a:spcAft>
                <a:spcPts val="2000"/>
              </a:spcAft>
              <a:defRPr sz="16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Critical Need for Early Detection:</a:t>
            </a:r>
            <a:r>
              <a:rPr>
                <a:solidFill>
                  <a:srgbClr val="F3F4F6"/>
                </a:solidFill>
              </a:rPr>
              <a:t> Early stages of macular degeneration and retinal thickening often develop gradually without noticeable visual pain or symptoms, making regular clinical screening vital.</a:t>
            </a:r>
          </a:p>
          <a:p>
            <a:pPr>
              <a:spcAft>
                <a:spcPts val="2000"/>
              </a:spcAft>
              <a:defRPr sz="16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Limitations of Manual Interpretations:</a:t>
            </a:r>
            <a:r>
              <a:rPr>
                <a:solidFill>
                  <a:srgbClr val="F3F4F6"/>
                </a:solidFill>
              </a:rPr>
              <a:t> Optical Coherence Tomography (OCT) yields high-resolution cross-sectional slices. However, manually analyzing thousands of B-scan slices is slow, subjective, and prone to fatigue.</a:t>
            </a:r>
          </a:p>
          <a:p>
            <a:pPr>
              <a:spcAft>
                <a:spcPts val="2000"/>
              </a:spcAft>
              <a:defRPr sz="16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Socioeconomic Diagnostics Barrier:</a:t>
            </a:r>
            <a:r>
              <a:rPr>
                <a:solidFill>
                  <a:srgbClr val="F3F4F6"/>
                </a:solidFill>
              </a:rPr>
              <a:t> Underserved rural areas suffer from a severe shortage of ophthalmology specialists and lack clinical-grade medical imaging scanners.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VISIONCARE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600">
                <a:latin typeface="Outfit"/>
              </a:defRPr>
            </a:pPr>
            <a:r>
              <a:rPr b="1">
                <a:solidFill>
                  <a:srgbClr val="EF4444"/>
                </a:solidFill>
              </a:rPr>
              <a:t>The 'Black Box' AI Skepticism:</a:t>
            </a:r>
            <a:r>
              <a:rPr>
                <a:solidFill>
                  <a:srgbClr val="F3F4F6"/>
                </a:solidFill>
              </a:rPr>
              <a:t> Standard deep learning vision models operate as black boxes, providing raw scores without localizing abnormalities, hindering clinical trust.</a:t>
            </a:r>
          </a:p>
          <a:p>
            <a:pPr>
              <a:spcAft>
                <a:spcPts val="2000"/>
              </a:spcAft>
              <a:defRPr sz="1600">
                <a:latin typeface="Outfit"/>
              </a:defRPr>
            </a:pPr>
            <a:r>
              <a:rPr b="1">
                <a:solidFill>
                  <a:srgbClr val="EF4444"/>
                </a:solidFill>
              </a:rPr>
              <a:t>Complex Medical Vocabulary Gaps:</a:t>
            </a:r>
            <a:r>
              <a:rPr>
                <a:solidFill>
                  <a:srgbClr val="F3F4F6"/>
                </a:solidFill>
              </a:rPr>
              <a:t> High-level neural outputs do not translate into patient-friendly explanations, causing anxiety and a lack of clear follow-up care steps.</a:t>
            </a:r>
          </a:p>
          <a:p>
            <a:pPr>
              <a:spcAft>
                <a:spcPts val="2000"/>
              </a:spcAft>
              <a:defRPr sz="1600">
                <a:latin typeface="Outfit"/>
              </a:defRPr>
            </a:pPr>
            <a:r>
              <a:rPr b="1">
                <a:solidFill>
                  <a:srgbClr val="EF4444"/>
                </a:solidFill>
              </a:rPr>
              <a:t>Language and Accessibility Barriers:</a:t>
            </a:r>
            <a:r>
              <a:rPr>
                <a:solidFill>
                  <a:srgbClr val="F3F4F6"/>
                </a:solidFill>
              </a:rPr>
              <a:t> Diagnostic interfaces lack dynamic bilingual translation, making healthcare screening tools unusable for rural populations (e.g. Tamil speakers).</a:t>
            </a:r>
          </a:p>
          <a:p>
            <a:pPr>
              <a:spcAft>
                <a:spcPts val="2000"/>
              </a:spcAft>
              <a:defRPr sz="1600">
                <a:latin typeface="Outfit"/>
              </a:defRPr>
            </a:pPr>
            <a:r>
              <a:rPr b="1">
                <a:solidFill>
                  <a:srgbClr val="EF4444"/>
                </a:solidFill>
              </a:rPr>
              <a:t>Lack of Clinical Grounding:</a:t>
            </a:r>
            <a:r>
              <a:rPr>
                <a:solidFill>
                  <a:srgbClr val="F3F4F6"/>
                </a:solidFill>
              </a:rPr>
              <a:t> Standalone Large Language Models (LLMs) hallucinate and lack patient-specific validation, rendering them unsafe for automated medical consultations.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VISIONCARE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Proposed Solution: VisionCare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500">
                <a:latin typeface="Outfit"/>
              </a:defRPr>
            </a:pPr>
            <a:r>
              <a:rPr b="1">
                <a:solidFill>
                  <a:srgbClr val="10B981"/>
                </a:solidFill>
              </a:rPr>
              <a:t>CNN Ensemble Classifier:</a:t>
            </a:r>
            <a:r>
              <a:rPr>
                <a:solidFill>
                  <a:srgbClr val="F3F4F6"/>
                </a:solidFill>
              </a:rPr>
              <a:t> Combines EfficientNet-B0 and MobileNet-V3 with Vision Transformer fallbacks to ensure robust, real-time diagnostic staging.</a:t>
            </a:r>
          </a:p>
          <a:p>
            <a:pPr>
              <a:spcAft>
                <a:spcPts val="1600"/>
              </a:spcAft>
              <a:defRPr sz="1500">
                <a:latin typeface="Outfit"/>
              </a:defRPr>
            </a:pPr>
            <a:r>
              <a:rPr b="1">
                <a:solidFill>
                  <a:srgbClr val="10B981"/>
                </a:solidFill>
              </a:rPr>
              <a:t>Attention U-Net Segmentation:</a:t>
            </a:r>
            <a:r>
              <a:rPr>
                <a:solidFill>
                  <a:srgbClr val="F3F4F6"/>
                </a:solidFill>
              </a:rPr>
              <a:t> Implements attention-guided pixel-level mapping to localize lesions, intraretinal fluids, and compute macular affected percentages.</a:t>
            </a:r>
          </a:p>
          <a:p>
            <a:pPr>
              <a:spcAft>
                <a:spcPts val="1600"/>
              </a:spcAft>
              <a:defRPr sz="1500">
                <a:latin typeface="Outfit"/>
              </a:defRPr>
            </a:pPr>
            <a:r>
              <a:rPr b="1">
                <a:solidFill>
                  <a:srgbClr val="10B981"/>
                </a:solidFill>
              </a:rPr>
              <a:t>Explainability Core:</a:t>
            </a:r>
            <a:r>
              <a:rPr>
                <a:solidFill>
                  <a:srgbClr val="F3F4F6"/>
                </a:solidFill>
              </a:rPr>
              <a:t> Integrates Grad-CAM activation heatmaps and Plotly foveal thickness profile curves to visually justify diagnoses to clinicians.</a:t>
            </a:r>
          </a:p>
          <a:p>
            <a:pPr>
              <a:spcAft>
                <a:spcPts val="1600"/>
              </a:spcAft>
              <a:defRPr sz="1500">
                <a:latin typeface="Outfit"/>
              </a:defRPr>
            </a:pPr>
            <a:r>
              <a:rPr b="1">
                <a:solidFill>
                  <a:srgbClr val="10B981"/>
                </a:solidFill>
              </a:rPr>
              <a:t>RAG-Driven Medical Chatbot:</a:t>
            </a:r>
            <a:r>
              <a:rPr>
                <a:solidFill>
                  <a:srgbClr val="F3F4F6"/>
                </a:solidFill>
              </a:rPr>
              <a:t> Pairs local FAISS vector databases with Llama 3 to answer clinical questions safely, using text-to-speech playout and voice dictation.</a:t>
            </a:r>
          </a:p>
          <a:p>
            <a:pPr>
              <a:spcAft>
                <a:spcPts val="1600"/>
              </a:spcAft>
              <a:defRPr sz="1500">
                <a:latin typeface="Outfit"/>
              </a:defRPr>
            </a:pPr>
            <a:r>
              <a:rPr b="1">
                <a:solidFill>
                  <a:srgbClr val="10B981"/>
                </a:solidFill>
              </a:rPr>
              <a:t>Bilingual Reports Generator:</a:t>
            </a:r>
            <a:r>
              <a:rPr>
                <a:solidFill>
                  <a:srgbClr val="F3F4F6"/>
                </a:solidFill>
              </a:rPr>
              <a:t> Generates symmetrical English/Tamil reports with instant transliteration and secure verification QR codes.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VISIONCARE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Classification Core: Deep Learning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Ensemble Architecture Strategy:</a:t>
            </a:r>
            <a:r>
              <a:rPr>
                <a:solidFill>
                  <a:srgbClr val="F3F4F6"/>
                </a:solidFill>
              </a:rPr>
              <a:t> Combines high-accuracy EfficientNet-B0 compound scaling with MobileNet-V3 lightweight layers to balance CPU runtime latency and accuracy: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10B981"/>
                </a:solidFill>
              </a:rPr>
              <a:t>Weighted Aggregation Formula:</a:t>
            </a:r>
            <a:r>
              <a:rPr b="1">
                <a:solidFill>
                  <a:srgbClr val="F3F4F6"/>
                </a:solidFill>
              </a:rPr>
              <a:t> P(Class) = 0.50 * P(EffNet) + 0.20 * P(MobileNet) + 0.30 * P(ViT)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Adaptive Vision Transformer Fallback:</a:t>
            </a:r>
            <a:r>
              <a:rPr>
                <a:solidFill>
                  <a:srgbClr val="F3F4F6"/>
                </a:solidFill>
              </a:rPr>
              <a:t> A ViT-B/16 classifier participates dynamically in the prediction average only if pre-trained weights (vit_b_16_oct.pth) are loaded in the model workspace.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Four Staged Retinal Categories:</a:t>
            </a:r>
            <a:r>
              <a:rPr>
                <a:solidFill>
                  <a:srgbClr val="F3F4F6"/>
                </a:solidFill>
              </a:rPr>
              <a:t> Staging matches clinical standards: Normal, Diabetic Macular Edema (DME), Choroidal Neovascularization (CNV), and Drusen deposits.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VISIONCARE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Attention-Guided Segmentation &amp; Foveal Thickness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Attention U-Net Model:</a:t>
            </a:r>
            <a:r>
              <a:rPr>
                <a:solidFill>
                  <a:srgbClr val="F3F4F6"/>
                </a:solidFill>
              </a:rPr>
              <a:t> Utilizes spatial attention gates in decoder skip connections to suppress non-retinal background pixels and isolate true structural lesion boundaries.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Retina Affected Percentage Math:</a:t>
            </a:r>
            <a:r>
              <a:rPr>
                <a:solidFill>
                  <a:srgbClr val="F3F4F6"/>
                </a:solidFill>
              </a:rPr>
              <a:t> Abnormal Area % = (Sum of segment pixels / Sum of valid retina pixels) * 100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Valid Retinal Layer Masking:</a:t>
            </a:r>
            <a:r>
              <a:rPr>
                <a:solidFill>
                  <a:srgbClr val="F3F4F6"/>
                </a:solidFill>
              </a:rPr>
              <a:t> Implements a high-pass mean-intensity filter (Mean &gt; 15) to isolate the morphological boundaries of the retinal wall from black image margins.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Foveal Pit Thickness Curvature:</a:t>
            </a:r>
            <a:r>
              <a:rPr>
                <a:solidFill>
                  <a:srgbClr val="F3F4F6"/>
                </a:solidFill>
              </a:rPr>
              <a:t> Automatically plots vertical column thickness. Generates curvature graphs in real-time, mapping central foveal depression or swelling (DME elevation).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VISIONCARE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Explainability Core: Grad-CAM Activation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Feature Importance Backpropagation:</a:t>
            </a:r>
            <a:r>
              <a:rPr>
                <a:solidFill>
                  <a:srgbClr val="F3F4F6"/>
                </a:solidFill>
              </a:rPr>
              <a:t> Calculates the gradients of the prediction score for target class c with respect to the final convolutional layer's activation maps.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Rectified Localization Formula:</a:t>
            </a:r>
            <a:r>
              <a:rPr>
                <a:solidFill>
                  <a:srgbClr val="F3F4F6"/>
                </a:solidFill>
              </a:rPr>
              <a:t> Maps positive feature maps directly: L_GradCAM = ReLU( Sum( alpha_k * A_k ) )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Interactive Color-Mapped Overlay:</a:t>
            </a:r>
            <a:r>
              <a:rPr>
                <a:solidFill>
                  <a:srgbClr val="F3F4F6"/>
                </a:solidFill>
              </a:rPr>
              <a:t> Generates coarse heatmaps using Jet colormaps and blends them over raw grayscale scans at 60% opacity.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Clinician Staging Verification:</a:t>
            </a:r>
            <a:r>
              <a:rPr>
                <a:solidFill>
                  <a:srgbClr val="F3F4F6"/>
                </a:solidFill>
              </a:rPr>
              <a:t> Provides immediate, visual proof that the model is making diagnostic calls based on medical markers (fluid pockets, drusen) instead of noise.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VISIONCARE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Clinical Chatbot: Retrieval-Augmented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Semantic Caching with FAISS:</a:t>
            </a:r>
            <a:r>
              <a:rPr>
                <a:solidFill>
                  <a:srgbClr val="F3F4F6"/>
                </a:solidFill>
              </a:rPr>
              <a:t> Indexes localized medical books and guidelines into a high-speed Facebook AI Similarity Search (FAISS) vector database.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Hallucination-Safe Grounding:</a:t>
            </a:r>
            <a:r>
              <a:rPr>
                <a:solidFill>
                  <a:srgbClr val="F3F4F6"/>
                </a:solidFill>
              </a:rPr>
              <a:t> Upon diagnostic prediction, RAG retrieves relevant medical literature snippets to ground Llama 3 answers, eliminating clinical hallucinations.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Expandable Thought-Trace Accordion:</a:t>
            </a:r>
            <a:r>
              <a:rPr>
                <a:solidFill>
                  <a:srgbClr val="F3F4F6"/>
                </a:solidFill>
              </a:rPr>
              <a:t> Renders the step-by-step reasoning (language check, FAISS matching scores, patient context check) inside a clean glassmorphic frontend container.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Voice Synthesis Dictation &amp; Playout:</a:t>
            </a:r>
            <a:r>
              <a:rPr>
                <a:solidFill>
                  <a:srgbClr val="F3F4F6"/>
                </a:solidFill>
              </a:rPr>
              <a:t> Integrates webkitSpeechRecognition for clinician voice dictation and SpeechSynthesisUtterance for multilingual speech playout (EN/Tamil).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VISIONCARE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Symmetrical Bilingual Reports UI (English / Tamil)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Severity-Responsive Card Themes:</a:t>
            </a:r>
            <a:r>
              <a:rPr>
                <a:solidFill>
                  <a:srgbClr val="F3F4F6"/>
                </a:solidFill>
              </a:rPr>
              <a:t> Report cards automatically toggle color themes (sev-normal, sev-mild, sev-moderate, sev-severe, sev-critical) dynamically using CSS variables.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Structured Info Grid &amp; SVG Icons:</a:t>
            </a:r>
            <a:r>
              <a:rPr>
                <a:solidFill>
                  <a:srgbClr val="F3F4F6"/>
                </a:solidFill>
              </a:rPr>
              <a:t> Displays patient demographics (ID, Name, Date, Age/Gender) inside clean grid boxes bound with inline micro-icons.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Bilingual Transliteration Engine:</a:t>
            </a:r>
            <a:r>
              <a:rPr>
                <a:solidFill>
                  <a:srgbClr val="F3F4F6"/>
                </a:solidFill>
              </a:rPr>
              <a:t> Integrated Google Input Tools API transliterates clinician name inputs into Tamil characters in real-time (e.g. Ramesh -&gt; ரமேஷ்).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Metric Progress Trackers:</a:t>
            </a:r>
            <a:r>
              <a:rPr>
                <a:solidFill>
                  <a:srgbClr val="F3F4F6"/>
                </a:solidFill>
              </a:rPr>
              <a:t> Employs linear progress bar components with smooth transitions to visually represent retina affected area and diagnosis confidence.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VISIONCARE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SQLite Database Registry &amp;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Fast Relational Database:</a:t>
            </a:r>
            <a:r>
              <a:rPr>
                <a:solidFill>
                  <a:srgbClr val="F3F4F6"/>
                </a:solidFill>
              </a:rPr>
              <a:t> Employs SQLite 3 for localized data persistence, tracking scan records, generated PDF reports, and patient history registries.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Structured DB Tables:</a:t>
            </a:r>
            <a:r>
              <a:rPr>
                <a:solidFill>
                  <a:srgbClr val="F3F4F6"/>
                </a:solidFill>
              </a:rPr>
              <a:t> Maintains relational tables: 'users' (with role-based access), 'patients' (demographic records), 'scans' (CNN outputs), and 'reports'.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Clinician Roles System:</a:t>
            </a:r>
            <a:r>
              <a:rPr>
                <a:solidFill>
                  <a:srgbClr val="F3F4F6"/>
                </a:solidFill>
              </a:rPr>
              <a:t> Restricts administrative privileges based on registration profiles: Ophthalmologist, Resident Physician, Clinical Assistant, System Admin.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Cloud Sync Telemetry widget:</a:t>
            </a:r>
            <a:r>
              <a:rPr>
                <a:solidFill>
                  <a:srgbClr val="F3F4F6"/>
                </a:solidFill>
              </a:rPr>
              <a:t> Displays active cloud bridging statuses (secure AWS S3 sync queues, PostgreSQL backups, and ping latencies) inside settings.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VISIONCARE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Medical PDF Report Compiler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ReportLab Compilation Engine:</a:t>
            </a:r>
            <a:r>
              <a:rPr>
                <a:solidFill>
                  <a:srgbClr val="F3F4F6"/>
                </a:solidFill>
              </a:rPr>
              <a:t> Compiles clinical-grade diagnostic reports in A4 format automatically on back-end request.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Comprehensive Staged Sections:</a:t>
            </a:r>
            <a:r>
              <a:rPr>
                <a:solidFill>
                  <a:srgbClr val="F3F4F6"/>
                </a:solidFill>
              </a:rPr>
              <a:t> Incorporates patient metadata, chief complaints, symptoms history, Layer segmentations, and clinical impressions.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Bilingual PDF Support:</a:t>
            </a:r>
            <a:r>
              <a:rPr>
                <a:solidFill>
                  <a:srgbClr val="F3F4F6"/>
                </a:solidFill>
              </a:rPr>
              <a:t> Generates both English and Tamil reports dynamically, pulling RAG recommendations and local translations.</a:t>
            </a:r>
          </a:p>
          <a:p>
            <a:pPr>
              <a:spcAft>
                <a:spcPts val="20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Secure Verification QR Code:</a:t>
            </a:r>
            <a:r>
              <a:rPr>
                <a:solidFill>
                  <a:srgbClr val="F3F4F6"/>
                </a:solidFill>
              </a:rPr>
              <a:t> Embeds a unique qrcode image linked to the `/verify` portal, allowing patients or other clinics to scan and verify report authenticity.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VISIONCARE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Model Validation &amp; Performance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057400"/>
                <a:gridCol w="2057400"/>
                <a:gridCol w="2057400"/>
                <a:gridCol w="20574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DISEASE CATEGORY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NORMAL RETINA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99.0%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CNV (Wet AMD)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0.97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0.96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0.965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96.5%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DME (Edema)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0.96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0.955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95.5%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DRUSEN (Dry AMD)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0.93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3F4F6"/>
                          </a:solidFill>
                          <a:latin typeface="Outfit"/>
                        </a:defRPr>
                      </a:pPr>
                      <a:r>
                        <a:t>93.0%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1148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Outfit"/>
              </a:defRPr>
            </a:pPr>
            <a:r>
              <a:t>System Staging Statistics Summary:</a:t>
            </a:r>
          </a:p>
          <a:p>
            <a:pPr>
              <a:spcBef>
                <a:spcPts val="800"/>
              </a:spcBef>
              <a:defRPr sz="13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Classification and Segmentation Accuracy:</a:t>
            </a:r>
            <a:r>
              <a:rPr>
                <a:solidFill>
                  <a:srgbClr val="F3F4F6"/>
                </a:solidFill>
              </a:rPr>
              <a:t> Average ensemble accuracy is 96.0%; Attention U-Net achieves 0.84 mIoU and 0.91 Dice score.</a:t>
            </a:r>
          </a:p>
          <a:p>
            <a:pPr>
              <a:spcBef>
                <a:spcPts val="800"/>
              </a:spcBef>
              <a:defRPr sz="13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Chatbot Grounding Accuracy:</a:t>
            </a:r>
            <a:r>
              <a:rPr>
                <a:solidFill>
                  <a:srgbClr val="F3F4F6"/>
                </a:solidFill>
              </a:rPr>
              <a:t> RAG FAISS retrieval context recall is 98%, yielding 0% hallucinations under clinical query testing.</a:t>
            </a:r>
          </a:p>
          <a:p>
            <a:pPr>
              <a:spcBef>
                <a:spcPts val="800"/>
              </a:spcBef>
              <a:defRPr sz="13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Execution Latency Optimization:</a:t>
            </a:r>
            <a:r>
              <a:rPr>
                <a:solidFill>
                  <a:srgbClr val="F3F4F6"/>
                </a:solidFill>
              </a:rPr>
              <a:t> End-to-end processing pipeline takes ~2.3 seconds on CPU (Preprocessing + CNN + U-Net + Llama 3).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Outfit"/>
              </a:defRPr>
            </a:pPr>
            <a:r>
              <a:t>VISIONCARE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Outfit"/>
              </a:defRPr>
            </a:pPr>
            <a:r>
              <a:t>Conclusion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500">
                <a:latin typeface="Outfit"/>
              </a:defRPr>
            </a:pPr>
            <a:r>
              <a:rPr b="1">
                <a:solidFill>
                  <a:srgbClr val="10B981"/>
                </a:solidFill>
              </a:rPr>
              <a:t>Successful Vision-Language Integration:</a:t>
            </a:r>
            <a:r>
              <a:rPr>
                <a:solidFill>
                  <a:srgbClr val="F3F4F6"/>
                </a:solidFill>
              </a:rPr>
              <a:t> VisionCare bridges medical vision deep learning networks with Large Language Models to deliver explainable, localized clinical decisions.</a:t>
            </a:r>
          </a:p>
          <a:p>
            <a:pPr>
              <a:spcAft>
                <a:spcPts val="1600"/>
              </a:spcAft>
              <a:defRPr sz="1500">
                <a:latin typeface="Outfit"/>
              </a:defRPr>
            </a:pPr>
            <a:r>
              <a:rPr b="1">
                <a:solidFill>
                  <a:srgbClr val="10B981"/>
                </a:solidFill>
              </a:rPr>
              <a:t>Ophthalmologist Workload Reduction:</a:t>
            </a:r>
            <a:r>
              <a:rPr>
                <a:solidFill>
                  <a:srgbClr val="F3F4F6"/>
                </a:solidFill>
              </a:rPr>
              <a:t> Resolving scans and generating PDFs in seconds lowers specialized labor hours and provides immediate patient screening support.</a:t>
            </a:r>
          </a:p>
          <a:p>
            <a:pPr>
              <a:spcAft>
                <a:spcPts val="16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Simultaneous Multi-Disease Detection:</a:t>
            </a:r>
            <a:r>
              <a:rPr>
                <a:solidFill>
                  <a:srgbClr val="F3F4F6"/>
                </a:solidFill>
              </a:rPr>
              <a:t> Future staging aims to incorporate multi-label model heads to detect overlapping symptoms (DME and CNV together).</a:t>
            </a:r>
          </a:p>
          <a:p>
            <a:pPr>
              <a:spcAft>
                <a:spcPts val="16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PACS/DICOM Structured Reporting:</a:t>
            </a:r>
            <a:r>
              <a:rPr>
                <a:solidFill>
                  <a:srgbClr val="F3F4F6"/>
                </a:solidFill>
              </a:rPr>
              <a:t> Plan to build standard DICOM structured reporting outputs to write findings directly back into hospital imaging systems.</a:t>
            </a:r>
          </a:p>
          <a:p>
            <a:pPr>
              <a:spcAft>
                <a:spcPts val="1600"/>
              </a:spcAft>
              <a:defRPr sz="1500">
                <a:latin typeface="Outfit"/>
              </a:defRPr>
            </a:pPr>
            <a:r>
              <a:rPr b="1">
                <a:solidFill>
                  <a:srgbClr val="6366F1"/>
                </a:solidFill>
              </a:rPr>
              <a:t>Android / iOS Mobile Deployment:</a:t>
            </a:r>
            <a:r>
              <a:rPr>
                <a:solidFill>
                  <a:srgbClr val="F3F4F6"/>
                </a:solidFill>
              </a:rPr>
              <a:t> Plan to design React Native client apps, enabling rural clinicians to capture fundus images using portable lenses.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11680"/>
            <a:ext cx="85313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3F4F6"/>
                </a:solidFill>
                <a:latin typeface="Outfit"/>
              </a:defRPr>
            </a:pPr>
            <a:r>
              <a:t>THANK YOU</a:t>
            </a:r>
          </a:p>
          <a:p>
            <a:pPr algn="ctr">
              <a:spcBef>
                <a:spcPts val="1400"/>
              </a:spcBef>
              <a:defRPr sz="1800" b="1">
                <a:solidFill>
                  <a:srgbClr val="6366F1"/>
                </a:solidFill>
                <a:latin typeface="Outfit"/>
              </a:defRPr>
            </a:pPr>
            <a:r>
              <a:t>AI - Based Retinal Multi Disease Prediction Platform</a:t>
            </a:r>
          </a:p>
          <a:p>
            <a:pPr algn="ctr">
              <a:spcBef>
                <a:spcPts val="800"/>
              </a:spcBef>
              <a:defRPr sz="1400">
                <a:solidFill>
                  <a:srgbClr val="9CA3AF"/>
                </a:solidFill>
                <a:latin typeface="Outfit"/>
              </a:defRPr>
            </a:pPr>
            <a:r>
              <a:t>Questions &amp; Discussions Session Open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